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pendency tree" id="{10dff0a2-16a8-acf3-844e-25743c2a6a0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GRIDE depends on all eleven tool projects, so building GRIDE builds the whole tool chain. Two tools depend on others because they run what those build: shc (shalimar) needs cxx1 (cpp11) for its runtime post-build; rts6x needs cxx1, asm6x and shc. Solution Explorer shows each project file's own name: cc1 builds c90.exe, cxx1 cpp11.exe, shc shalimar.exe. Every project builds into x64\&lt;config&gt; beside GRIDE.sln, so GRIDE is ready to run with no staging. The same tree is in GRIDEd README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F5E5A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GRIDE.sln builds the whole tool chain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</a:rPr>
              <a:t>GRIDEd\GRIDE.sln in Visual Studio 2022: GRIDE and its eleven tool projects, built into one folder</a:t>
            </a:r>
            <a:endParaRPr lang="en-US" sz="1400" dirty="0"/>
          </a:p>
        </p:txBody>
      </p:sp>
      <p:sp>
        <p:nvSpPr>
          <p:cNvPr id="4" name="GRIDE"/>
          <p:cNvSpPr/>
          <p:nvPr/>
        </p:nvSpPr>
        <p:spPr>
          <a:xfrm>
            <a:off x="4956048" y="1298448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" name="GRIDE name"/>
          <p:cNvSpPr txBox="1"/>
          <p:nvPr/>
        </p:nvSpPr>
        <p:spPr>
          <a:xfrm>
            <a:off x="4956048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89"/>
                </a:solidFill>
              </a:rPr>
              <a:t>GRIDE</a:t>
            </a:r>
            <a:endParaRPr lang="en-US" sz="1800" dirty="0"/>
          </a:p>
        </p:txBody>
      </p:sp>
      <p:sp>
        <p:nvSpPr>
          <p:cNvPr id="6" name="GRIDE note"/>
          <p:cNvSpPr txBox="1"/>
          <p:nvPr/>
        </p:nvSpPr>
        <p:spPr>
          <a:xfrm>
            <a:off x="4956048" y="1655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34AB7"/>
                </a:solidFill>
              </a:rPr>
              <a:t>startup · depends on all 11</a:t>
            </a:r>
            <a:endParaRPr lang="en-US" sz="1200" dirty="0"/>
          </a:p>
        </p:txBody>
      </p:sp>
      <p:sp>
        <p:nvSpPr>
          <p:cNvPr id="7" name="bus stem"/>
          <p:cNvSpPr/>
          <p:nvPr/>
        </p:nvSpPr>
        <p:spPr>
          <a:xfrm>
            <a:off x="6099048" y="1984248"/>
            <a:ext cx="91" cy="228600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</a:ln>
        </p:spPr>
      </p:sp>
      <p:sp>
        <p:nvSpPr>
          <p:cNvPr id="8" name="bus"/>
          <p:cNvSpPr/>
          <p:nvPr/>
        </p:nvSpPr>
        <p:spPr>
          <a:xfrm>
            <a:off x="2286000" y="2212848"/>
            <a:ext cx="7589520" cy="91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</a:ln>
        </p:spPr>
      </p:sp>
      <p:sp>
        <p:nvSpPr>
          <p:cNvPr id="9" name="to Compilers"/>
          <p:cNvSpPr/>
          <p:nvPr/>
        </p:nvSpPr>
        <p:spPr>
          <a:xfrm>
            <a:off x="2286000" y="2212848"/>
            <a:ext cx="91" cy="237744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0" name="to TI"/>
          <p:cNvSpPr/>
          <p:nvPr/>
        </p:nvSpPr>
        <p:spPr>
          <a:xfrm>
            <a:off x="6080760" y="2212848"/>
            <a:ext cx="91" cy="237744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1" name="to Windows"/>
          <p:cNvSpPr/>
          <p:nvPr/>
        </p:nvSpPr>
        <p:spPr>
          <a:xfrm>
            <a:off x="9875520" y="2212848"/>
            <a:ext cx="91" cy="237744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Compilers group"/>
          <p:cNvSpPr/>
          <p:nvPr/>
        </p:nvSpPr>
        <p:spPr>
          <a:xfrm>
            <a:off x="640080" y="246888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F8F7F3"/>
          </a:solidFill>
          <a:ln w="9525">
            <a:solidFill>
              <a:srgbClr val="888780"/>
            </a:solidFill>
            <a:prstDash val="dash"/>
          </a:ln>
        </p:spPr>
      </p:sp>
      <p:sp>
        <p:nvSpPr>
          <p:cNvPr id="13" name="Compilers title"/>
          <p:cNvSpPr txBox="1"/>
          <p:nvPr/>
        </p:nvSpPr>
        <p:spPr>
          <a:xfrm>
            <a:off x="868680" y="2542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</a:rPr>
              <a:t>Compilers</a:t>
            </a:r>
            <a:endParaRPr lang="en-US" sz="1600" dirty="0"/>
          </a:p>
        </p:txBody>
      </p:sp>
      <p:sp>
        <p:nvSpPr>
          <p:cNvPr id="14" name="cc1"/>
          <p:cNvSpPr/>
          <p:nvPr/>
        </p:nvSpPr>
        <p:spPr>
          <a:xfrm>
            <a:off x="868680" y="29260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5" name="cc1 name"/>
          <p:cNvSpPr txBox="1"/>
          <p:nvPr/>
        </p:nvSpPr>
        <p:spPr>
          <a:xfrm>
            <a:off x="100584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cc1</a:t>
            </a:r>
            <a:endParaRPr lang="en-US" sz="1400" dirty="0"/>
          </a:p>
        </p:txBody>
      </p:sp>
      <p:sp>
        <p:nvSpPr>
          <p:cNvPr id="16" name="cc1 output"/>
          <p:cNvSpPr txBox="1"/>
          <p:nvPr/>
        </p:nvSpPr>
        <p:spPr>
          <a:xfrm>
            <a:off x="219456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c90.exe</a:t>
            </a:r>
            <a:endParaRPr lang="en-US" sz="1200" dirty="0"/>
          </a:p>
        </p:txBody>
      </p:sp>
      <p:sp>
        <p:nvSpPr>
          <p:cNvPr id="17" name="cxx1"/>
          <p:cNvSpPr/>
          <p:nvPr/>
        </p:nvSpPr>
        <p:spPr>
          <a:xfrm>
            <a:off x="868680" y="340156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8" name="cxx1 name"/>
          <p:cNvSpPr txBox="1"/>
          <p:nvPr/>
        </p:nvSpPr>
        <p:spPr>
          <a:xfrm>
            <a:off x="1005840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cxx1</a:t>
            </a:r>
            <a:endParaRPr lang="en-US" sz="1400" dirty="0"/>
          </a:p>
        </p:txBody>
      </p:sp>
      <p:sp>
        <p:nvSpPr>
          <p:cNvPr id="19" name="cxx1 output"/>
          <p:cNvSpPr txBox="1"/>
          <p:nvPr/>
        </p:nvSpPr>
        <p:spPr>
          <a:xfrm>
            <a:off x="219456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cpp11.exe</a:t>
            </a:r>
            <a:endParaRPr lang="en-US" sz="1200" dirty="0"/>
          </a:p>
        </p:txBody>
      </p:sp>
      <p:sp>
        <p:nvSpPr>
          <p:cNvPr id="20" name="shc"/>
          <p:cNvSpPr/>
          <p:nvPr/>
        </p:nvSpPr>
        <p:spPr>
          <a:xfrm>
            <a:off x="868680" y="3877056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1" name="shc name"/>
          <p:cNvSpPr txBox="1"/>
          <p:nvPr/>
        </p:nvSpPr>
        <p:spPr>
          <a:xfrm>
            <a:off x="1005840" y="38770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shc</a:t>
            </a:r>
            <a:endParaRPr lang="en-US" sz="1400" dirty="0"/>
          </a:p>
        </p:txBody>
      </p:sp>
      <p:sp>
        <p:nvSpPr>
          <p:cNvPr id="22" name="shc output"/>
          <p:cNvSpPr txBox="1"/>
          <p:nvPr/>
        </p:nvSpPr>
        <p:spPr>
          <a:xfrm>
            <a:off x="2194560" y="3877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shalimar.exe</a:t>
            </a:r>
            <a:endParaRPr lang="en-US" sz="1200" dirty="0"/>
          </a:p>
        </p:txBody>
      </p:sp>
      <p:sp>
        <p:nvSpPr>
          <p:cNvPr id="23" name="c2s"/>
          <p:cNvSpPr/>
          <p:nvPr/>
        </p:nvSpPr>
        <p:spPr>
          <a:xfrm>
            <a:off x="868680" y="4352544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4" name="c2s name"/>
          <p:cNvSpPr txBox="1"/>
          <p:nvPr/>
        </p:nvSpPr>
        <p:spPr>
          <a:xfrm>
            <a:off x="1005840" y="4352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c2s</a:t>
            </a:r>
            <a:endParaRPr lang="en-US" sz="1400" dirty="0"/>
          </a:p>
        </p:txBody>
      </p:sp>
      <p:sp>
        <p:nvSpPr>
          <p:cNvPr id="25" name="c2s output"/>
          <p:cNvSpPr txBox="1"/>
          <p:nvPr/>
        </p:nvSpPr>
        <p:spPr>
          <a:xfrm>
            <a:off x="2194560" y="43525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c2s.exe</a:t>
            </a:r>
            <a:endParaRPr lang="en-US" sz="1200" dirty="0"/>
          </a:p>
        </p:txBody>
      </p:sp>
      <p:sp>
        <p:nvSpPr>
          <p:cNvPr id="26" name="TI group"/>
          <p:cNvSpPr/>
          <p:nvPr/>
        </p:nvSpPr>
        <p:spPr>
          <a:xfrm>
            <a:off x="4434840" y="246888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F8F7F3"/>
          </a:solidFill>
          <a:ln w="9525">
            <a:solidFill>
              <a:srgbClr val="888780"/>
            </a:solidFill>
            <a:prstDash val="dash"/>
          </a:ln>
        </p:spPr>
      </p:sp>
      <p:sp>
        <p:nvSpPr>
          <p:cNvPr id="27" name="TI title"/>
          <p:cNvSpPr txBox="1"/>
          <p:nvPr/>
        </p:nvSpPr>
        <p:spPr>
          <a:xfrm>
            <a:off x="4663440" y="2542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</a:rPr>
              <a:t>TI</a:t>
            </a:r>
            <a:endParaRPr lang="en-US" sz="1600" dirty="0"/>
          </a:p>
        </p:txBody>
      </p:sp>
      <p:sp>
        <p:nvSpPr>
          <p:cNvPr id="28" name="asm6x"/>
          <p:cNvSpPr/>
          <p:nvPr/>
        </p:nvSpPr>
        <p:spPr>
          <a:xfrm>
            <a:off x="4663440" y="29260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9" name="asm6x name"/>
          <p:cNvSpPr txBox="1"/>
          <p:nvPr/>
        </p:nvSpPr>
        <p:spPr>
          <a:xfrm>
            <a:off x="480060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asm6x</a:t>
            </a:r>
            <a:endParaRPr lang="en-US" sz="1400" dirty="0"/>
          </a:p>
        </p:txBody>
      </p:sp>
      <p:sp>
        <p:nvSpPr>
          <p:cNvPr id="30" name="asm6x output"/>
          <p:cNvSpPr txBox="1"/>
          <p:nvPr/>
        </p:nvSpPr>
        <p:spPr>
          <a:xfrm>
            <a:off x="598932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asm6x.exe</a:t>
            </a:r>
            <a:endParaRPr lang="en-US" sz="1200" dirty="0"/>
          </a:p>
        </p:txBody>
      </p:sp>
      <p:sp>
        <p:nvSpPr>
          <p:cNvPr id="31" name="lnk6x"/>
          <p:cNvSpPr/>
          <p:nvPr/>
        </p:nvSpPr>
        <p:spPr>
          <a:xfrm>
            <a:off x="4663440" y="340156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32" name="lnk6x name"/>
          <p:cNvSpPr txBox="1"/>
          <p:nvPr/>
        </p:nvSpPr>
        <p:spPr>
          <a:xfrm>
            <a:off x="4800600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lnk6x</a:t>
            </a:r>
            <a:endParaRPr lang="en-US" sz="1400" dirty="0"/>
          </a:p>
        </p:txBody>
      </p:sp>
      <p:sp>
        <p:nvSpPr>
          <p:cNvPr id="33" name="lnk6x output"/>
          <p:cNvSpPr txBox="1"/>
          <p:nvPr/>
        </p:nvSpPr>
        <p:spPr>
          <a:xfrm>
            <a:off x="598932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lnk6x.exe</a:t>
            </a:r>
            <a:endParaRPr lang="en-US" sz="1200" dirty="0"/>
          </a:p>
        </p:txBody>
      </p:sp>
      <p:sp>
        <p:nvSpPr>
          <p:cNvPr id="34" name="rts6x"/>
          <p:cNvSpPr/>
          <p:nvPr/>
        </p:nvSpPr>
        <p:spPr>
          <a:xfrm>
            <a:off x="4663440" y="3877056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35" name="rts6x name"/>
          <p:cNvSpPr txBox="1"/>
          <p:nvPr/>
        </p:nvSpPr>
        <p:spPr>
          <a:xfrm>
            <a:off x="4800600" y="38770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2B13"/>
                </a:solidFill>
              </a:rPr>
              <a:t>rts6x</a:t>
            </a:r>
            <a:endParaRPr lang="en-US" sz="1400" dirty="0"/>
          </a:p>
        </p:txBody>
      </p:sp>
      <p:sp>
        <p:nvSpPr>
          <p:cNvPr id="36" name="rts6x output"/>
          <p:cNvSpPr txBox="1"/>
          <p:nvPr/>
        </p:nvSpPr>
        <p:spPr>
          <a:xfrm>
            <a:off x="5989320" y="3877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3C1D"/>
                </a:solidFill>
              </a:rPr>
              <a:t>6 libraries</a:t>
            </a:r>
            <a:endParaRPr lang="en-US" sz="1200" dirty="0"/>
          </a:p>
        </p:txBody>
      </p:sp>
      <p:sp>
        <p:nvSpPr>
          <p:cNvPr id="37" name="sim6747"/>
          <p:cNvSpPr/>
          <p:nvPr/>
        </p:nvSpPr>
        <p:spPr>
          <a:xfrm>
            <a:off x="4663440" y="4352544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38" name="sim6747 name"/>
          <p:cNvSpPr txBox="1"/>
          <p:nvPr/>
        </p:nvSpPr>
        <p:spPr>
          <a:xfrm>
            <a:off x="4800600" y="4352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sim6747</a:t>
            </a:r>
            <a:endParaRPr lang="en-US" sz="1400" dirty="0"/>
          </a:p>
        </p:txBody>
      </p:sp>
      <p:sp>
        <p:nvSpPr>
          <p:cNvPr id="39" name="sim6747 output"/>
          <p:cNvSpPr txBox="1"/>
          <p:nvPr/>
        </p:nvSpPr>
        <p:spPr>
          <a:xfrm>
            <a:off x="5989320" y="43525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sim6747.exe</a:t>
            </a:r>
            <a:endParaRPr lang="en-US" sz="1200" dirty="0"/>
          </a:p>
        </p:txBody>
      </p:sp>
      <p:sp>
        <p:nvSpPr>
          <p:cNvPr id="40" name="vm6747"/>
          <p:cNvSpPr/>
          <p:nvPr/>
        </p:nvSpPr>
        <p:spPr>
          <a:xfrm>
            <a:off x="4663440" y="4828032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41" name="vm6747 name"/>
          <p:cNvSpPr txBox="1"/>
          <p:nvPr/>
        </p:nvSpPr>
        <p:spPr>
          <a:xfrm>
            <a:off x="4800600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vm6747</a:t>
            </a:r>
            <a:endParaRPr lang="en-US" sz="1400" dirty="0"/>
          </a:p>
        </p:txBody>
      </p:sp>
      <p:sp>
        <p:nvSpPr>
          <p:cNvPr id="42" name="vm6747 output"/>
          <p:cNvSpPr txBox="1"/>
          <p:nvPr/>
        </p:nvSpPr>
        <p:spPr>
          <a:xfrm>
            <a:off x="5989320" y="4828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vm6747.exe</a:t>
            </a:r>
            <a:endParaRPr lang="en-US" sz="1200" dirty="0"/>
          </a:p>
        </p:txBody>
      </p:sp>
      <p:sp>
        <p:nvSpPr>
          <p:cNvPr id="43" name="Windows group"/>
          <p:cNvSpPr/>
          <p:nvPr/>
        </p:nvSpPr>
        <p:spPr>
          <a:xfrm>
            <a:off x="8229600" y="246888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F8F7F3"/>
          </a:solidFill>
          <a:ln w="9525">
            <a:solidFill>
              <a:srgbClr val="888780"/>
            </a:solidFill>
            <a:prstDash val="dash"/>
          </a:ln>
        </p:spPr>
      </p:sp>
      <p:sp>
        <p:nvSpPr>
          <p:cNvPr id="44" name="Windows title"/>
          <p:cNvSpPr txBox="1"/>
          <p:nvPr/>
        </p:nvSpPr>
        <p:spPr>
          <a:xfrm>
            <a:off x="8458200" y="2542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</a:rPr>
              <a:t>Windows</a:t>
            </a:r>
            <a:endParaRPr lang="en-US" sz="1600" dirty="0"/>
          </a:p>
        </p:txBody>
      </p:sp>
      <p:sp>
        <p:nvSpPr>
          <p:cNvPr id="45" name="masm"/>
          <p:cNvSpPr/>
          <p:nvPr/>
        </p:nvSpPr>
        <p:spPr>
          <a:xfrm>
            <a:off x="8458200" y="29260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46" name="masm name"/>
          <p:cNvSpPr txBox="1"/>
          <p:nvPr/>
        </p:nvSpPr>
        <p:spPr>
          <a:xfrm>
            <a:off x="859536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masm</a:t>
            </a:r>
            <a:endParaRPr lang="en-US" sz="1400" dirty="0"/>
          </a:p>
        </p:txBody>
      </p:sp>
      <p:sp>
        <p:nvSpPr>
          <p:cNvPr id="47" name="masm output"/>
          <p:cNvSpPr txBox="1"/>
          <p:nvPr/>
        </p:nvSpPr>
        <p:spPr>
          <a:xfrm>
            <a:off x="978408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masm.exe</a:t>
            </a:r>
            <a:endParaRPr lang="en-US" sz="1200" dirty="0"/>
          </a:p>
        </p:txBody>
      </p:sp>
      <p:sp>
        <p:nvSpPr>
          <p:cNvPr id="48" name="link"/>
          <p:cNvSpPr/>
          <p:nvPr/>
        </p:nvSpPr>
        <p:spPr>
          <a:xfrm>
            <a:off x="8458200" y="340156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49" name="link name"/>
          <p:cNvSpPr txBox="1"/>
          <p:nvPr/>
        </p:nvSpPr>
        <p:spPr>
          <a:xfrm>
            <a:off x="8595360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link</a:t>
            </a:r>
            <a:endParaRPr lang="en-US" sz="1400" dirty="0"/>
          </a:p>
        </p:txBody>
      </p:sp>
      <p:sp>
        <p:nvSpPr>
          <p:cNvPr id="50" name="link output"/>
          <p:cNvSpPr txBox="1"/>
          <p:nvPr/>
        </p:nvSpPr>
        <p:spPr>
          <a:xfrm>
            <a:off x="978408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link.exe</a:t>
            </a:r>
            <a:endParaRPr lang="en-US" sz="1200" dirty="0"/>
          </a:p>
        </p:txBody>
      </p:sp>
      <p:sp>
        <p:nvSpPr>
          <p:cNvPr id="51" name="shc needs cxx1 1"/>
          <p:cNvSpPr/>
          <p:nvPr/>
        </p:nvSpPr>
        <p:spPr>
          <a:xfrm flipH="1">
            <a:off x="749808" y="4069080"/>
            <a:ext cx="118872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52" name="shc needs cxx1 2"/>
          <p:cNvSpPr/>
          <p:nvPr/>
        </p:nvSpPr>
        <p:spPr>
          <a:xfrm flipV="1">
            <a:off x="749808" y="3593592"/>
            <a:ext cx="91" cy="475488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53" name="shc needs cxx1 3"/>
          <p:cNvSpPr/>
          <p:nvPr/>
        </p:nvSpPr>
        <p:spPr>
          <a:xfrm>
            <a:off x="749808" y="3593592"/>
            <a:ext cx="109728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54" name="rts6x needs asm6x 1"/>
          <p:cNvSpPr/>
          <p:nvPr/>
        </p:nvSpPr>
        <p:spPr>
          <a:xfrm>
            <a:off x="7498080" y="4069080"/>
            <a:ext cx="118872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55" name="rts6x needs asm6x 2"/>
          <p:cNvSpPr/>
          <p:nvPr/>
        </p:nvSpPr>
        <p:spPr>
          <a:xfrm flipV="1">
            <a:off x="7616952" y="3118104"/>
            <a:ext cx="91" cy="950976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56" name="rts6x needs asm6x 3"/>
          <p:cNvSpPr/>
          <p:nvPr/>
        </p:nvSpPr>
        <p:spPr>
          <a:xfrm flipH="1">
            <a:off x="7507224" y="3118104"/>
            <a:ext cx="109728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57" name="rts6x needs cxx1 1"/>
          <p:cNvSpPr/>
          <p:nvPr/>
        </p:nvSpPr>
        <p:spPr>
          <a:xfrm flipH="1">
            <a:off x="4187952" y="3995928"/>
            <a:ext cx="475488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58" name="rts6x needs cxx1 2"/>
          <p:cNvSpPr/>
          <p:nvPr/>
        </p:nvSpPr>
        <p:spPr>
          <a:xfrm flipV="1">
            <a:off x="4187952" y="3593592"/>
            <a:ext cx="91" cy="402336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59" name="rts6x needs cxx1 3"/>
          <p:cNvSpPr/>
          <p:nvPr/>
        </p:nvSpPr>
        <p:spPr>
          <a:xfrm flipH="1">
            <a:off x="3712464" y="3593592"/>
            <a:ext cx="475488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60" name="rts6x needs shc 1"/>
          <p:cNvSpPr/>
          <p:nvPr/>
        </p:nvSpPr>
        <p:spPr>
          <a:xfrm flipH="1">
            <a:off x="3712464" y="4142232"/>
            <a:ext cx="950976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61" name="from Compilers"/>
          <p:cNvSpPr/>
          <p:nvPr/>
        </p:nvSpPr>
        <p:spPr>
          <a:xfrm>
            <a:off x="2286000" y="5440680"/>
            <a:ext cx="91" cy="164592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</a:ln>
        </p:spPr>
      </p:sp>
      <p:sp>
        <p:nvSpPr>
          <p:cNvPr id="62" name="from TI"/>
          <p:cNvSpPr/>
          <p:nvPr/>
        </p:nvSpPr>
        <p:spPr>
          <a:xfrm>
            <a:off x="6080760" y="5440680"/>
            <a:ext cx="91" cy="164592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</a:ln>
        </p:spPr>
      </p:sp>
      <p:sp>
        <p:nvSpPr>
          <p:cNvPr id="63" name="from Windows"/>
          <p:cNvSpPr/>
          <p:nvPr/>
        </p:nvSpPr>
        <p:spPr>
          <a:xfrm>
            <a:off x="9875520" y="5440680"/>
            <a:ext cx="91" cy="164592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</a:ln>
        </p:spPr>
      </p:sp>
      <p:sp>
        <p:nvSpPr>
          <p:cNvPr id="64" name="out bus"/>
          <p:cNvSpPr/>
          <p:nvPr/>
        </p:nvSpPr>
        <p:spPr>
          <a:xfrm>
            <a:off x="2286000" y="5605272"/>
            <a:ext cx="7589520" cy="91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</a:ln>
        </p:spPr>
      </p:sp>
      <p:sp>
        <p:nvSpPr>
          <p:cNvPr id="65" name="to output"/>
          <p:cNvSpPr/>
          <p:nvPr/>
        </p:nvSpPr>
        <p:spPr>
          <a:xfrm>
            <a:off x="6099048" y="5605272"/>
            <a:ext cx="91" cy="182880"/>
          </a:xfrm>
          <a:prstGeom prst="line">
            <a:avLst/>
          </a:prstGeom>
          <a:noFill/>
          <a:ln w="952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66" name="output folder"/>
          <p:cNvSpPr/>
          <p:nvPr/>
        </p:nvSpPr>
        <p:spPr>
          <a:xfrm>
            <a:off x="3813048" y="5806440"/>
            <a:ext cx="4572000" cy="685800"/>
          </a:xfrm>
          <a:prstGeom prst="roundRect">
            <a:avLst>
              <a:gd name="adj" fmla="val 16000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67" name="output name"/>
          <p:cNvSpPr txBox="1"/>
          <p:nvPr/>
        </p:nvSpPr>
        <p:spPr>
          <a:xfrm>
            <a:off x="3813048" y="58430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3806"/>
                </a:solidFill>
              </a:rPr>
              <a:t>x64\&lt;config&gt;\ beside GRIDE.sln</a:t>
            </a:r>
            <a:endParaRPr lang="en-US" sz="1600" dirty="0"/>
          </a:p>
        </p:txBody>
      </p:sp>
      <p:sp>
        <p:nvSpPr>
          <p:cNvPr id="68" name="output note"/>
          <p:cNvSpPr txBox="1"/>
          <p:nvPr/>
        </p:nvSpPr>
        <p:spPr>
          <a:xfrm>
            <a:off x="3813048" y="6163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4F0B"/>
                </a:solidFill>
              </a:rPr>
              <a:t>GRIDE.exe, 10 tools, lib\, toolchain.json, docs</a:t>
            </a:r>
            <a:endParaRPr lang="en-US" sz="1200" dirty="0"/>
          </a:p>
        </p:txBody>
      </p:sp>
      <p:sp>
        <p:nvSpPr>
          <p:cNvPr id="69" name="legend line"/>
          <p:cNvSpPr/>
          <p:nvPr/>
        </p:nvSpPr>
        <p:spPr>
          <a:xfrm>
            <a:off x="640080" y="5989320"/>
            <a:ext cx="411480" cy="91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triangle"/>
          </a:ln>
        </p:spPr>
      </p:sp>
      <p:sp>
        <p:nvSpPr>
          <p:cNvPr id="70" name="legend"/>
          <p:cNvSpPr txBox="1"/>
          <p:nvPr/>
        </p:nvSpPr>
        <p:spPr>
          <a:xfrm>
            <a:off x="1143000" y="5852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</a:rPr>
              <a:t>builds first: it runs that tool's output</a:t>
            </a:r>
            <a:endParaRPr lang="en-US" sz="1100" dirty="0"/>
          </a:p>
        </p:txBody>
      </p:sp>
      <p:sp>
        <p:nvSpPr>
          <p:cNvPr id="71" name="cppparse note"/>
          <p:cNvSpPr txBox="1"/>
          <p:nvPr/>
        </p:nvSpPr>
        <p:spPr>
          <a:xfrm>
            <a:off x="640080" y="6172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</a:rPr>
              <a:t>cppparse (samples\) has no dependency</a:t>
            </a:r>
            <a:endParaRPr lang="en-US" sz="1100" dirty="0"/>
          </a:p>
        </p:txBody>
      </p:sp>
      <p:sp>
        <p:nvSpPr>
          <p:cNvPr id="72" name="check"/>
          <p:cNvSpPr txBox="1"/>
          <p:nvPr/>
        </p:nvSpPr>
        <p:spPr>
          <a:xfrm>
            <a:off x="8641080" y="58338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Release|x64: </a:t>
            </a:r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13 built, 0 errors, 0 warnings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Debug|x64: </a:t>
            </a:r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</a:rPr>
              <a:t>link C2220, known, left as 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E tool chain">
  <a:themeElements>
    <a:clrScheme name="GRIDE tool chain">
      <a:dk1>
        <a:srgbClr val="2C2C2A"/>
      </a:dk1>
      <a:lt1>
        <a:srgbClr val="FFFFFF"/>
      </a:lt1>
      <a:dk2>
        <a:srgbClr val="3C3489"/>
      </a:dk2>
      <a:lt2>
        <a:srgbClr val="F8F7F3"/>
      </a:lt2>
      <a:accent1>
        <a:srgbClr val="534AB7"/>
      </a:accent1>
      <a:accent2>
        <a:srgbClr val="0F6E56"/>
      </a:accent2>
      <a:accent3>
        <a:srgbClr val="D85A30"/>
      </a:accent3>
      <a:accent4>
        <a:srgbClr val="854F0B"/>
      </a:accent4>
      <a:accent5>
        <a:srgbClr val="888780"/>
      </a:accent5>
      <a:accent6>
        <a:srgbClr val="1D9E75"/>
      </a:accent6>
      <a:hlink>
        <a:srgbClr val="185FA5"/>
      </a:hlink>
      <a:folHlink>
        <a:srgbClr val="534AB7"/>
      </a:folHlink>
    </a:clrScheme>
    <a:fontScheme name="GRIDE tool ch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GRIDE.sln dependency tree</dc:title>
  <dc:subject>PptxGenJS Presentation</dc:subject>
  <dc:creator>G. R. Akhtar</dc:creator>
  <cp:lastModifiedBy>G. R. Akhtar</cp:lastModifiedBy>
  <cp:revision>1</cp:revision>
  <dcterms:created xsi:type="dcterms:W3CDTF">2026-10-15T18:53:59Z</dcterms:created>
  <dcterms:modified xsi:type="dcterms:W3CDTF">2026-10-15T18:53:59Z</dcterms:modified>
</cp:coreProperties>
</file>